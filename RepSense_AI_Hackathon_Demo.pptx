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600" b="1">
                <a:solidFill>
                  <a:srgbClr val="135D8C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02735"/>
                </a:solidFill>
                <a:latin typeface="Aptos"/>
              </a:defRPr>
            </a:pPr>
            <a:r>
              <a:t>From sales transactions to territory risk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832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52606D"/>
                </a:solidFill>
                <a:latin typeface="Aptos"/>
              </a:defRPr>
            </a:pPr>
            <a:r>
              <a:t>A complete hackathon walkthrough: data preparation, machine learning, business rules, explainability, and dashboard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87F8C"/>
                </a:solidFill>
                <a:latin typeface="Aptos"/>
              </a:defRPr>
            </a:pPr>
            <a:r>
              <a:t>10-slide demonstration | 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1. Start with the input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35D8C"/>
                </a:solidFill>
                <a:latin typeface="Aptos"/>
              </a:defRPr>
            </a:pPr>
            <a:r>
              <a:t>pharma-data.csv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2606D"/>
                </a:solidFill>
                <a:latin typeface="Aptos"/>
              </a:defRPr>
            </a:pPr>
            <a:r>
              <a:t>254,082 rows | 18 columns | transaction-level pharmaceutical sales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6032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Distributor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73552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Customer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73552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56032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560320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City /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73552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73552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73552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021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86784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73552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73552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5021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Product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86784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273552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3273552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5021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Quantity /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986784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86783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986783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15383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00016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986783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986783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215383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Month /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00016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986783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20" y="3986783"/>
            <a:ext cx="347472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215383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Sales Rep / Manager /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700016"/>
            <a:ext cx="3108960" cy="-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Raw transaction field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166360"/>
            <a:ext cx="11109960" cy="566928"/>
          </a:xfrm>
          <a:prstGeom prst="roundRect">
            <a:avLst/>
          </a:prstGeom>
          <a:solidFill>
            <a:srgbClr val="E9F5F6"/>
          </a:solidFill>
          <a:ln w="12700">
            <a:solidFill>
              <a:srgbClr val="B9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40096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Example: Lublin | Hospital | Topipizole | Quantity 4 | Sales 1,472 | Mary Gerrard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Raw source: individual pharmaceutical sales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2. Clean and standardize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38328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Clean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Strip whitespace from names, cities, products, and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4203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Convert names to lowercase underscore format.</a:t>
            </a:r>
            <a:br/>
            <a:br/>
            <a:r>
              <a:t>Name of Sales Rep -&gt; name_of_sales_rep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3383280" cy="73152"/>
          </a:xfrm>
          <a:prstGeom prst="rect">
            <a:avLst/>
          </a:prstGeom>
          <a:solidFill>
            <a:srgbClr val="D82F78"/>
          </a:solidFill>
          <a:ln w="12700">
            <a:solidFill>
              <a:srgbClr val="D82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05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Create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54203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Create date, representative ID, territory ID, HCP ID, and negative-transaction flag.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Output of preprocessing.py: consistent data ready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3. Add operational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ptos"/>
              </a:defRPr>
            </a:pPr>
            <a:r>
              <a:t>Sales alone does not show the complete territory situation.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3383280" cy="73152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HR / staffing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Representative status, primary territory, vacancy flag, vacancy days.</a:t>
            </a:r>
            <a:br/>
            <a:br/>
            <a:r>
              <a:t>13 demonstration reps.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CRM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6207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Planned and actual calls, visits, completion rates, and HCP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14884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148840"/>
            <a:ext cx="3383280" cy="73152"/>
          </a:xfrm>
          <a:prstGeom prst="rect">
            <a:avLst/>
          </a:prstGeom>
          <a:solidFill>
            <a:srgbClr val="D82F78"/>
          </a:solidFill>
          <a:ln w="12700">
            <a:solidFill>
              <a:srgbClr val="D82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3774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Promotions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862072"/>
            <a:ext cx="3017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Promotion type, product, sales before/after, observed uplift, and impact.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Synthetic HR, CRM, and promotion layers are reproducible with seed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4. Build territory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ptos"/>
              </a:defRPr>
            </a:pPr>
            <a:r>
              <a:t>Transactions are aggregated into one analytical record per territory and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9270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57984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5D8C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57984"/>
            <a:ext cx="8503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sales, transactions, quantity, sales change %, rolling 3-month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0048"/>
            <a:ext cx="109270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5D8C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16352"/>
            <a:ext cx="8503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actual calls, actual visits, activity %, activity change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28416"/>
            <a:ext cx="109270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5D8C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74720"/>
            <a:ext cx="8503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customers, HCPs, HCP coverage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86784"/>
            <a:ext cx="109270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7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5D8C"/>
                </a:solidFill>
                <a:latin typeface="Aptos"/>
              </a:defRPr>
            </a:pPr>
            <a:r>
              <a:t>Staffing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133087"/>
            <a:ext cx="8503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current reps, required reps, vacancies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45152"/>
            <a:ext cx="109270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91456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5D8C"/>
                </a:solidFill>
                <a:latin typeface="Aptos"/>
              </a:defRPr>
            </a:pPr>
            <a:r>
              <a:t>Promotions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91456"/>
            <a:ext cx="8503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promotion count, average observed uplift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Feature table combines commercial and operational health signals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5. Detect unusual territory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66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166360" cy="73152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Isolation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42032"/>
            <a:ext cx="4800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Finds globally unusual combinations of sales, activity, coverage, staffing, and promotions.</a:t>
            </a:r>
            <a:br/>
            <a:br/>
            <a:r>
              <a:t>Weight: 60% | Contamination: 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828800"/>
            <a:ext cx="5166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828800"/>
            <a:ext cx="516636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05740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Local Outlier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542032"/>
            <a:ext cx="4800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Finds territories unusual compared with their local neighborhood.</a:t>
            </a:r>
            <a:br/>
            <a:br/>
            <a:r>
              <a:t>Weight: 40% | Neighbors: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4892040"/>
            <a:ext cx="8503920" cy="594360"/>
          </a:xfrm>
          <a:prstGeom prst="roundRect">
            <a:avLst/>
          </a:prstGeom>
          <a:solidFill>
            <a:srgbClr val="E9F5F6"/>
          </a:solidFill>
          <a:ln w="12700">
            <a:solidFill>
              <a:srgbClr val="B9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5102352"/>
            <a:ext cx="79552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02735"/>
                </a:solidFill>
                <a:latin typeface="Aptos"/>
              </a:defRPr>
            </a:pPr>
            <a:r>
              <a:t>ML ensemble = IF score x 0.60 + LOF score x 0.40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Unsupervised learning: no pre-labeled risky territories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6. Apply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ptos"/>
              </a:defRPr>
            </a:pPr>
            <a:r>
              <a:t>Transparent thresholds add domain knowledge to the ML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24028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7568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920240"/>
            <a:ext cx="224028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07568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920240"/>
            <a:ext cx="224028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79" y="207568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Major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920240"/>
            <a:ext cx="224028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075688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02735"/>
                </a:solidFill>
                <a:latin typeface="Aptos"/>
              </a:defRPr>
            </a:pPr>
            <a:r>
              <a:t>Sales decline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37744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57860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-15%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37744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79" y="257860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-30%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37744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57860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-40%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44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4553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02735"/>
                </a:solidFill>
                <a:latin typeface="Aptos"/>
              </a:defRPr>
            </a:pPr>
            <a:r>
              <a:t>CRM activity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2944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314553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&lt;80%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944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314553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944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14553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112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12463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02735"/>
                </a:solidFill>
                <a:latin typeface="Aptos"/>
              </a:defRPr>
            </a:pPr>
            <a:r>
              <a:t>HCP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5112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3712463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&lt;85%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5112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79" y="3712463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&lt;70%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35112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3712463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&lt;50%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078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79392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02735"/>
                </a:solidFill>
                <a:latin typeface="Aptos"/>
              </a:defRPr>
            </a:pPr>
            <a:r>
              <a:t>Vacancy duration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4078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80" y="4279392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30+ days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4078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79" y="4279392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60+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078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4279392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90+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Rules are demonstration values and should be calibrated with business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7. Calculate the hybrid risk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ptos"/>
              </a:defRPr>
            </a:pPr>
            <a:r>
              <a:t>Six signals become one management-friendly score from 0 to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86000"/>
            <a:ext cx="10698480" cy="658368"/>
          </a:xfrm>
          <a:prstGeom prst="round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41448"/>
            <a:ext cx="10552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ML anomaly</a:t>
            </a:r>
            <a:br/>
            <a:r>
              <a:t>35%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65992" y="2286000"/>
            <a:ext cx="7641771" cy="658368"/>
          </a:xfrm>
          <a:prstGeom prst="round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9144" y="2441448"/>
            <a:ext cx="74954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  <a:br/>
            <a:r>
              <a:t>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80915" y="2286000"/>
            <a:ext cx="4585062" cy="658368"/>
          </a:xfrm>
          <a:prstGeom prst="roundRect">
            <a:avLst/>
          </a:prstGeom>
          <a:solidFill>
            <a:srgbClr val="D82F78"/>
          </a:solidFill>
          <a:ln w="12700">
            <a:solidFill>
              <a:srgbClr val="D82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54067" y="2441448"/>
            <a:ext cx="443875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CRM</a:t>
            </a:r>
            <a:br/>
            <a:r>
              <a:t>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39130" y="2286000"/>
            <a:ext cx="3056708" cy="658368"/>
          </a:xfrm>
          <a:prstGeom prst="roundRect">
            <a:avLst/>
          </a:prstGeom>
          <a:solidFill>
            <a:srgbClr val="6A62A8"/>
          </a:solidFill>
          <a:ln w="12700">
            <a:solidFill>
              <a:srgbClr val="6A6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282" y="2441448"/>
            <a:ext cx="29104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HCP coverage</a:t>
            </a:r>
            <a:br/>
            <a:r>
              <a:t>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68990" y="2286000"/>
            <a:ext cx="3056708" cy="658368"/>
          </a:xfrm>
          <a:prstGeom prst="roundRect">
            <a:avLst/>
          </a:prstGeom>
          <a:solidFill>
            <a:srgbClr val="D99000"/>
          </a:solidFill>
          <a:ln w="12700"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42142" y="2441448"/>
            <a:ext cx="29104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Vacancy</a:t>
            </a:r>
            <a:br/>
            <a:r>
              <a:t>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98851" y="2286000"/>
            <a:ext cx="1528354" cy="658368"/>
          </a:xfrm>
          <a:prstGeom prst="roundRect">
            <a:avLst/>
          </a:prstGeom>
          <a:solidFill>
            <a:srgbClr val="6B7B83"/>
          </a:solidFill>
          <a:ln w="12700">
            <a:solidFill>
              <a:srgbClr val="6B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72003" y="2441448"/>
            <a:ext cx="138205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Long vacancy</a:t>
            </a:r>
            <a:br/>
            <a:r>
              <a:t>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94760"/>
            <a:ext cx="10287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069080"/>
            <a:ext cx="9829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35D8C"/>
                </a:solidFill>
                <a:latin typeface="Aptos"/>
              </a:defRPr>
            </a:pPr>
            <a:r>
              <a:t>Final Risk Score = weighted ML + business-rule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00600"/>
            <a:ext cx="9829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87F8C"/>
                </a:solidFill>
                <a:latin typeface="Aptos"/>
              </a:defRPr>
            </a:pPr>
            <a:r>
              <a:t>0-39.99 Minor   |   40-69.99 Major   |   70-100 Critical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Higher score means greater management attention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8. Produce explainable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35D8C"/>
                </a:solidFill>
                <a:latin typeface="Aptos"/>
              </a:defRPr>
            </a:pPr>
            <a:r>
              <a:t>AI_rep_management_output.csv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2606D"/>
                </a:solidFill>
                <a:latin typeface="Aptos"/>
              </a:defRPr>
            </a:pPr>
            <a:r>
              <a:t>8 current territory-date records | 45 columns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64592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67004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514600"/>
            <a:ext cx="210312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2670048"/>
            <a:ext cx="19568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514600"/>
            <a:ext cx="137160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2670048"/>
            <a:ext cx="1225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Vacancies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2514600"/>
            <a:ext cx="155448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2670048"/>
            <a:ext cx="14081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ML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2514600"/>
            <a:ext cx="164592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267004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Final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514600"/>
            <a:ext cx="1645920" cy="457200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2670048"/>
            <a:ext cx="1499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4553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TERR_01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9718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67712" y="3145536"/>
            <a:ext cx="1956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$1.55B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297180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3145536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297180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3145536"/>
            <a:ext cx="1408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60.0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29718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314553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23.5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9718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314553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02735"/>
                </a:solidFill>
                <a:latin typeface="Aptos"/>
              </a:defRPr>
            </a:pPr>
            <a:r>
              <a:t>Minor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747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64845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TERR_02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34747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67712" y="3648456"/>
            <a:ext cx="1956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$1.50B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4747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1" y="3648456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34747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1" y="3648456"/>
            <a:ext cx="1408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40.3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59" y="34747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364845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22.6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34747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364845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02735"/>
                </a:solidFill>
                <a:latin typeface="Aptos"/>
              </a:defRPr>
            </a:pPr>
            <a:r>
              <a:t>Minor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977639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415137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TERR_03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3977639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67712" y="4151376"/>
            <a:ext cx="1956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$1.60B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79" y="3977639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1" y="4151376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79" y="3977639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42431" y="4151376"/>
            <a:ext cx="14081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62.4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59" y="3977639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415137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735"/>
                </a:solidFill>
                <a:latin typeface="Aptos"/>
              </a:defRPr>
            </a:pPr>
            <a:r>
              <a:t>30.3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3977639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42832" y="4151376"/>
            <a:ext cx="1499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02735"/>
                </a:solidFill>
                <a:latin typeface="Aptos"/>
              </a:defRPr>
            </a:pPr>
            <a:r>
              <a:t>Minor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800600"/>
            <a:ext cx="10698480" cy="621792"/>
          </a:xfrm>
          <a:prstGeom prst="roundRect">
            <a:avLst/>
          </a:prstGeom>
          <a:solidFill>
            <a:srgbClr val="E9F5F6"/>
          </a:solidFill>
          <a:ln w="12700">
            <a:solidFill>
              <a:srgbClr val="B9D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010912"/>
            <a:ext cx="10287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02735"/>
                </a:solidFill>
                <a:latin typeface="Aptos"/>
              </a:defRPr>
            </a:pPr>
            <a:r>
              <a:t>Explainability: risk_reasons + ai_recommendation tell managers why and what to do.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Output is structured for analysis, reporting, and dashboard consumption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55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RepSense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"/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326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02735"/>
                </a:solidFill>
                <a:latin typeface="Aptos"/>
              </a:defRPr>
            </a:pPr>
            <a:r>
              <a:t>9. Explore the result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ptos"/>
              </a:defRPr>
            </a:pPr>
            <a:r>
              <a:t>The Streamlit application turns the output into an interactive management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3429000" cy="73152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Executive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KPIs, distribution, trends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0574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057400"/>
            <a:ext cx="342900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AI Risk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70632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Sort and review territory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05740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2057400"/>
            <a:ext cx="3429000" cy="73152"/>
          </a:xfrm>
          <a:prstGeom prst="rect">
            <a:avLst/>
          </a:prstGeom>
          <a:solidFill>
            <a:srgbClr val="D82F78"/>
          </a:solidFill>
          <a:ln w="12700">
            <a:solidFill>
              <a:srgbClr val="D82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2860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Territory Deep 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770632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Investigate one territory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10712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10712"/>
            <a:ext cx="3429000" cy="73152"/>
          </a:xfrm>
          <a:prstGeom prst="rect">
            <a:avLst/>
          </a:prstGeom>
          <a:solidFill>
            <a:srgbClr val="135D8C"/>
          </a:solidFill>
          <a:ln w="12700">
            <a:solidFill>
              <a:srgbClr val="13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393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Rep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23944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Review staffing and vacancies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410712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3410712"/>
            <a:ext cx="3429000" cy="7315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6393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Promotion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123944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Compare observed uplift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410712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38744" y="3410712"/>
            <a:ext cx="3429000" cy="73152"/>
          </a:xfrm>
          <a:prstGeom prst="rect">
            <a:avLst/>
          </a:prstGeom>
          <a:solidFill>
            <a:srgbClr val="D82F78"/>
          </a:solidFill>
          <a:ln w="12700">
            <a:solidFill>
              <a:srgbClr val="D82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36393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5D8C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123944"/>
            <a:ext cx="3063240" cy="64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2606D"/>
                </a:solidFill>
                <a:latin typeface="Aptos"/>
              </a:defRPr>
            </a:pPr>
            <a:r>
              <a:t>Ask focused data questions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6419088"/>
            <a:ext cx="11292840" cy="13716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2606D"/>
                </a:solidFill>
                <a:latin typeface="Aptos"/>
              </a:defRPr>
            </a:pPr>
            <a:r>
              <a:t>Managers can move from a portfolio view to a territory-level explanation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